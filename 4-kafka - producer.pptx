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 varScale="1">
        <p:scale>
          <a:sx n="58" d="100"/>
          <a:sy n="58" d="100"/>
        </p:scale>
        <p:origin x="6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8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29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420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3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9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43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16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94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91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36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19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8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341716" y="2363587"/>
            <a:ext cx="648392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Kafka producer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646" y="3935481"/>
            <a:ext cx="2087431" cy="227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61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178" y="412870"/>
            <a:ext cx="5920934" cy="613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86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65" y="429496"/>
            <a:ext cx="5920934" cy="6136933"/>
          </a:xfrm>
          <a:prstGeom prst="rect">
            <a:avLst/>
          </a:prstGeom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6633555" y="2360815"/>
            <a:ext cx="5403273" cy="4205614"/>
          </a:xfrm>
          <a:prstGeom prst="rect">
            <a:avLst/>
          </a:prstGeom>
          <a:solidFill>
            <a:srgbClr val="E3E6E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If a valid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 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ui-monospace"/>
              </a:rPr>
              <a:t>partition number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 is specified, that 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0C0D0E"/>
                </a:solidFill>
                <a:effectLst/>
                <a:latin typeface="ui-monospace"/>
              </a:rPr>
              <a:t>partition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 will be used when sending the record.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C0D0E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If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no partition is specified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but a 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0C0D0E"/>
                </a:solidFill>
                <a:effectLst/>
                <a:latin typeface="ui-monospace"/>
              </a:rPr>
              <a:t>key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 is present a partition will be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chosen using a 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ui-monospace"/>
              </a:rPr>
              <a:t>hash of the key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If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neither 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ui-monospace"/>
              </a:rPr>
              <a:t>key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 nor 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ui-monospace"/>
              </a:rPr>
              <a:t>partition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 is present a partition will be assigned in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a 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ui-monospace"/>
              </a:rPr>
              <a:t>round-robin fashion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ight Arrow 11"/>
          <p:cNvSpPr/>
          <p:nvPr/>
        </p:nvSpPr>
        <p:spPr>
          <a:xfrm rot="10800000">
            <a:off x="5636029" y="1085749"/>
            <a:ext cx="3075709" cy="6151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1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65" y="429496"/>
            <a:ext cx="5920934" cy="6136933"/>
          </a:xfrm>
          <a:prstGeom prst="rect">
            <a:avLst/>
          </a:prstGeom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6633555" y="2616964"/>
            <a:ext cx="5403273" cy="3693319"/>
          </a:xfrm>
          <a:prstGeom prst="rect">
            <a:avLst/>
          </a:prstGeom>
          <a:solidFill>
            <a:srgbClr val="E3E6E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i="1" dirty="0" smtClean="0">
                <a:solidFill>
                  <a:srgbClr val="0C0D0E"/>
                </a:solidFill>
                <a:latin typeface="inherit"/>
              </a:rPr>
              <a:t>- send() have 2 options: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i="1" dirty="0">
                <a:solidFill>
                  <a:srgbClr val="0C0D0E"/>
                </a:solidFill>
                <a:latin typeface="inherit"/>
              </a:rPr>
              <a:t>	</a:t>
            </a:r>
            <a:r>
              <a:rPr lang="en-US" altLang="en-US" sz="2400" i="1" dirty="0" smtClean="0">
                <a:solidFill>
                  <a:srgbClr val="0C0D0E"/>
                </a:solidFill>
                <a:latin typeface="inherit"/>
              </a:rPr>
              <a:t>- </a:t>
            </a:r>
            <a:r>
              <a:rPr lang="en-US" altLang="en-US" sz="2400" i="1" dirty="0" smtClean="0">
                <a:solidFill>
                  <a:srgbClr val="FF0000"/>
                </a:solidFill>
                <a:latin typeface="inherit"/>
              </a:rPr>
              <a:t>synchronous</a:t>
            </a:r>
            <a:r>
              <a:rPr lang="en-US" altLang="en-US" sz="2400" i="1" dirty="0" smtClean="0">
                <a:solidFill>
                  <a:srgbClr val="0C0D0E"/>
                </a:solidFill>
                <a:latin typeface="inherit"/>
              </a:rPr>
              <a:t> ( lock thread, more reliable, longer latency, less </a:t>
            </a:r>
            <a:r>
              <a:rPr lang="en-US" altLang="en-US" sz="2400" i="1" dirty="0" err="1" smtClean="0">
                <a:solidFill>
                  <a:srgbClr val="0C0D0E"/>
                </a:solidFill>
                <a:latin typeface="inherit"/>
              </a:rPr>
              <a:t>throughtput</a:t>
            </a:r>
            <a:r>
              <a:rPr lang="en-US" altLang="en-US" sz="2400" i="1" dirty="0">
                <a:solidFill>
                  <a:srgbClr val="0C0D0E"/>
                </a:solidFill>
                <a:latin typeface="inherit"/>
              </a:rPr>
              <a:t> </a:t>
            </a:r>
            <a:r>
              <a:rPr lang="en-US" altLang="en-US" sz="2400" i="1" dirty="0" smtClean="0">
                <a:solidFill>
                  <a:srgbClr val="0C0D0E"/>
                </a:solidFill>
                <a:latin typeface="inherit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i="1" dirty="0">
                <a:solidFill>
                  <a:srgbClr val="0C0D0E"/>
                </a:solidFill>
                <a:latin typeface="inherit"/>
              </a:rPr>
              <a:t> 	</a:t>
            </a:r>
            <a:r>
              <a:rPr lang="en-US" altLang="en-US" sz="2400" i="1" dirty="0" smtClean="0">
                <a:solidFill>
                  <a:srgbClr val="0C0D0E"/>
                </a:solidFill>
                <a:latin typeface="inherit"/>
              </a:rPr>
              <a:t>- </a:t>
            </a:r>
            <a:r>
              <a:rPr lang="en-US" altLang="en-US" sz="2400" i="1" dirty="0" smtClean="0">
                <a:solidFill>
                  <a:srgbClr val="FF0000"/>
                </a:solidFill>
                <a:latin typeface="inherit"/>
              </a:rPr>
              <a:t>asynchronous</a:t>
            </a:r>
            <a:r>
              <a:rPr lang="en-US" altLang="en-US" sz="2400" i="1" dirty="0" smtClean="0">
                <a:solidFill>
                  <a:srgbClr val="0C0D0E"/>
                </a:solidFill>
                <a:latin typeface="inherit"/>
              </a:rPr>
              <a:t> ( non-block thread, low latency, high </a:t>
            </a:r>
            <a:r>
              <a:rPr lang="en-US" altLang="en-US" sz="2400" i="1" dirty="0" err="1" smtClean="0">
                <a:solidFill>
                  <a:srgbClr val="0C0D0E"/>
                </a:solidFill>
                <a:latin typeface="inherit"/>
              </a:rPr>
              <a:t>throught</a:t>
            </a:r>
            <a:r>
              <a:rPr lang="en-US" altLang="en-US" sz="2400" i="1" dirty="0" smtClean="0">
                <a:solidFill>
                  <a:srgbClr val="0C0D0E"/>
                </a:solidFill>
                <a:latin typeface="inherit"/>
              </a:rPr>
              <a:t> put , have callback </a:t>
            </a:r>
            <a:r>
              <a:rPr lang="en-US" altLang="en-US" sz="2400" i="1" dirty="0" err="1" smtClean="0">
                <a:solidFill>
                  <a:srgbClr val="0C0D0E"/>
                </a:solidFill>
                <a:latin typeface="inherit"/>
              </a:rPr>
              <a:t>onAck</a:t>
            </a:r>
            <a:r>
              <a:rPr lang="en-US" altLang="en-US" sz="2400" i="1" dirty="0" smtClean="0">
                <a:solidFill>
                  <a:srgbClr val="0C0D0E"/>
                </a:solidFill>
                <a:latin typeface="inherit"/>
              </a:rPr>
              <a:t> to know it sending success )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C0D0E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09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65" y="429496"/>
            <a:ext cx="5920934" cy="6136933"/>
          </a:xfrm>
          <a:prstGeom prst="rect">
            <a:avLst/>
          </a:prstGeom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6633555" y="3170962"/>
            <a:ext cx="5403273" cy="2585323"/>
          </a:xfrm>
          <a:prstGeom prst="rect">
            <a:avLst/>
          </a:prstGeom>
          <a:solidFill>
            <a:srgbClr val="E3E6E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en-US" sz="2400" i="1" dirty="0" smtClean="0">
                <a:solidFill>
                  <a:srgbClr val="0C0D0E"/>
                </a:solidFill>
                <a:latin typeface="inherit"/>
              </a:rPr>
              <a:t>Configure Producer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sz="2400" i="1" dirty="0" err="1" smtClean="0">
                <a:solidFill>
                  <a:srgbClr val="0C0D0E"/>
                </a:solidFill>
                <a:latin typeface="inherit"/>
              </a:rPr>
              <a:t>acks</a:t>
            </a:r>
            <a:r>
              <a:rPr lang="en-US" altLang="en-US" sz="2400" i="1" dirty="0" smtClean="0">
                <a:solidFill>
                  <a:srgbClr val="0C0D0E"/>
                </a:solidFill>
                <a:latin typeface="inherit"/>
              </a:rPr>
              <a:t>: 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0</a:t>
            </a:r>
            <a:r>
              <a:rPr lang="en-US" altLang="en-US" sz="2400" i="1" dirty="0" smtClean="0">
                <a:solidFill>
                  <a:srgbClr val="0C0D0E"/>
                </a:solidFill>
                <a:latin typeface="inherit"/>
              </a:rPr>
              <a:t>: not receive </a:t>
            </a:r>
            <a:r>
              <a:rPr lang="en-US" altLang="en-US" sz="2400" i="1" dirty="0" err="1" smtClean="0">
                <a:solidFill>
                  <a:srgbClr val="0C0D0E"/>
                </a:solidFill>
                <a:latin typeface="inherit"/>
              </a:rPr>
              <a:t>ack</a:t>
            </a:r>
            <a:r>
              <a:rPr lang="en-US" altLang="en-US" sz="2400" i="1" dirty="0" smtClean="0">
                <a:solidFill>
                  <a:srgbClr val="0C0D0E"/>
                </a:solidFill>
                <a:latin typeface="inherit"/>
              </a:rPr>
              <a:t> from leader broker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1:</a:t>
            </a:r>
            <a:r>
              <a:rPr kumimoji="0" lang="en-US" altLang="en-US" sz="2400" b="0" i="1" u="none" strike="noStrike" cap="none" normalizeH="0" dirty="0" smtClean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C0D0E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73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19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132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-apple-system</vt:lpstr>
      <vt:lpstr>Arial</vt:lpstr>
      <vt:lpstr>Calibri</vt:lpstr>
      <vt:lpstr>Calibri Light</vt:lpstr>
      <vt:lpstr>inherit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anhld82</dc:creator>
  <cp:lastModifiedBy>anhld82</cp:lastModifiedBy>
  <cp:revision>40</cp:revision>
  <dcterms:created xsi:type="dcterms:W3CDTF">2026-07-23T07:07:03Z</dcterms:created>
  <dcterms:modified xsi:type="dcterms:W3CDTF">2026-07-27T07:33:22Z</dcterms:modified>
</cp:coreProperties>
</file>