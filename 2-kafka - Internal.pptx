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70" r:id="rId6"/>
    <p:sldId id="271" r:id="rId7"/>
    <p:sldId id="273" r:id="rId8"/>
    <p:sldId id="272" r:id="rId9"/>
    <p:sldId id="274" r:id="rId10"/>
    <p:sldId id="275" r:id="rId11"/>
    <p:sldId id="276" r:id="rId12"/>
    <p:sldId id="27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58" d="100"/>
          <a:sy n="58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2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3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9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4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1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9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3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1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8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engweiyang.cn/2014/07/05/how-zookeeper-leader-election-work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rchitecture-weekly.com/p/how-a-kafka-like-producer-writes" TargetMode="External"/><Relationship Id="rId5" Type="http://schemas.openxmlformats.org/officeDocument/2006/relationships/hyperlink" Target="https://www.redpanda.com/blog/why-fsync-is-needed-for-data-safety-in-kafka-or-non-byzantine-protocols" TargetMode="External"/><Relationship Id="rId4" Type="http://schemas.openxmlformats.org/officeDocument/2006/relationships/hyperlink" Target="https://www.confluent.io/blog/kafka-producer-internals-handling-producer-request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ohithsankepally.github.io/Kafka-Storage-Internal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19394669/why-do-index-files-exist-in-the-kafka-log-directo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38056" y="2547257"/>
            <a:ext cx="635834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 Internal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917" y="3918855"/>
            <a:ext cx="2087431" cy="227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1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7460" y="511617"/>
            <a:ext cx="744320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What, why using </a:t>
            </a:r>
            <a:r>
              <a:rPr lang="en-US" sz="5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Cluster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32636" y="1873369"/>
            <a:ext cx="937175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Simple: </a:t>
            </a:r>
            <a:r>
              <a:rPr lang="en-US" sz="5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Cluster  == multi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1696468" y="2740320"/>
            <a:ext cx="937175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gain:</a:t>
            </a:r>
            <a:endParaRPr lang="en-US" sz="54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1638418" y="5048645"/>
            <a:ext cx="937175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54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2528" y="3590455"/>
            <a:ext cx="405376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high availability</a:t>
            </a:r>
            <a:endParaRPr lang="en-US" sz="54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55613" y="3432817"/>
            <a:ext cx="405376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solidFill>
                  <a:srgbClr val="FF0000"/>
                </a:solidFill>
              </a:rPr>
              <a:t>Scalability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449" y="4530601"/>
            <a:ext cx="4290942" cy="199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5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9" grpId="0"/>
      <p:bldP spid="20" grpId="0"/>
      <p:bldP spid="2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15939" y="511617"/>
            <a:ext cx="885017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 of </a:t>
            </a:r>
            <a:r>
              <a:rPr lang="en-US" sz="5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Cluster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mysql</a:t>
            </a:r>
            <a:endParaRPr lang="en-US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2" y="2117610"/>
            <a:ext cx="5795358" cy="328351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68540" y="5437453"/>
            <a:ext cx="55626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Sharding</a:t>
            </a:r>
            <a:endParaRPr lang="en-US" sz="36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600" b="0" cap="none" spc="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Write-heavy system</a:t>
            </a:r>
            <a:endParaRPr lang="en-US" sz="36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473" y="2322622"/>
            <a:ext cx="5823166" cy="287348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5415595"/>
            <a:ext cx="55626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Read, write replica model </a:t>
            </a:r>
          </a:p>
          <a:p>
            <a:pPr algn="ctr"/>
            <a:r>
              <a:rPr lang="en-US" sz="3600" b="0" cap="none" spc="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Read-heavy system</a:t>
            </a:r>
            <a:endParaRPr lang="en-US" sz="36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614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7460" y="511617"/>
            <a:ext cx="6358344" cy="1908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Cluster membership</a:t>
            </a:r>
          </a:p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Kafka </a:t>
            </a:r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cluster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is a distributed, highly scalable system composed of </a:t>
            </a:r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multiple 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servers (</a:t>
            </a:r>
            <a:r>
              <a:rPr lang="en-US" sz="16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vm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bare-metal) </a:t>
            </a:r>
            <a:r>
              <a:rPr lang="en-US" sz="1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called  ( </a:t>
            </a:r>
            <a:r>
              <a:rPr lang="en-US" sz="1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brokers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en-US" sz="16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https://thomaswong.tech/general/kafka/2025/07/17/kafka_cluster_membership_blog.html</a:t>
            </a:r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457" y="2194560"/>
            <a:ext cx="8961120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86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48449" y="511617"/>
            <a:ext cx="805834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Zookeeper / Kraft Controller</a:t>
            </a:r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5391" y="1946564"/>
            <a:ext cx="10929826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Zookeeper: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Choosing a leader broker (called controller election)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Keeping track of topics, partitions, and 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replicas ( metadata, node health check )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Detecting when a broker joins or leaves the cluster</a:t>
            </a:r>
          </a:p>
          <a:p>
            <a:pPr algn="ctr"/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349" y="4928429"/>
            <a:ext cx="3248868" cy="175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6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48449" y="511617"/>
            <a:ext cx="8058344" cy="141577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Zookeeper Limitation</a:t>
            </a:r>
          </a:p>
          <a:p>
            <a:pPr algn="ctr"/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https://www.confluent.io/learn/zookeeper-kafka/#zookeeper-vs-kraft-a-complete-side-by-side-comparison</a:t>
            </a:r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5391" y="1946564"/>
            <a:ext cx="1092982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5391" y="2181182"/>
            <a:ext cx="10929826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Metadata 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write throughput 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was limited ( add topics, partitions , brokers,…)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Two distributed system to manage: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itself and zookeeper ( extra 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monitoring, alerting 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125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48449" y="511617"/>
            <a:ext cx="805834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Kraft  solved it !!!</a:t>
            </a:r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5391" y="1946564"/>
            <a:ext cx="1092982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9013" y="2231135"/>
            <a:ext cx="11471562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Kafka’s 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built-in Raft-based 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metadata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Kraft 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uses Raft consensus to elect a leader 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internally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-&gt; faster fail over (zookeeper   leader election  algorithm 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://www.chengweiyang.cn/2014/07/05/how-zookeeper-leader-election-works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/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)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562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48449" y="511617"/>
            <a:ext cx="8058344" cy="141577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Benchmark</a:t>
            </a:r>
          </a:p>
          <a:p>
            <a:pPr algn="ctr"/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https://www.instaclustr.com/blog/apache-kafka-kraft-abandons-the-zookeeper-part-2-partitions-and-meta-data-performance/</a:t>
            </a:r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5391" y="1946564"/>
            <a:ext cx="1092982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35" y="2397099"/>
            <a:ext cx="6035761" cy="33220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621" y="2397099"/>
            <a:ext cx="5488603" cy="256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0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48449" y="511617"/>
            <a:ext cx="8058344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Replication</a:t>
            </a:r>
          </a:p>
          <a:p>
            <a:pPr algn="ctr"/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https://developer.confluent.io/courses/architecture/data-replication/</a:t>
            </a:r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5391" y="1946564"/>
            <a:ext cx="1092982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505" y="2078956"/>
            <a:ext cx="9724861" cy="435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3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97072" y="0"/>
            <a:ext cx="738731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391" y="1946564"/>
            <a:ext cx="1092982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248" y="1946564"/>
            <a:ext cx="10108969" cy="47041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8695" y="781272"/>
            <a:ext cx="8545096" cy="14773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https://www.confluent.io/blog/kafka-producer-internals-handling-producer-request</a:t>
            </a:r>
            <a:r>
              <a:rPr lang="en-US" sz="1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/</a:t>
            </a:r>
            <a:endParaRPr lang="en-US" sz="15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5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</a:t>
            </a:r>
            <a:r>
              <a:rPr lang="en-US" sz="15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</a:t>
            </a:r>
            <a:r>
              <a:rPr lang="en-US" sz="15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not use </a:t>
            </a:r>
            <a:r>
              <a:rPr lang="en-US" sz="15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fsync</a:t>
            </a:r>
            <a:r>
              <a:rPr lang="en-US" sz="15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</a:t>
            </a:r>
            <a:r>
              <a:rPr lang="en-US" sz="1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www.redpanda.com/blog/why-fsync-is-needed-for-data-safety-in-kafka-or-non-byzantine-protocols</a:t>
            </a:r>
            <a:endParaRPr lang="en-US" sz="15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6"/>
              </a:rPr>
              <a:t>https://</a:t>
            </a:r>
            <a:r>
              <a:rPr lang="en-US" sz="1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6"/>
              </a:rPr>
              <a:t>www.architecture-weekly.com/p/how-a-kafka-like-producer-writes</a:t>
            </a:r>
            <a:r>
              <a:rPr lang="en-US" sz="1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endParaRPr lang="en-US" sz="15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1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1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83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97072" y="0"/>
            <a:ext cx="738731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391" y="1946564"/>
            <a:ext cx="1092982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43802" y="2231134"/>
            <a:ext cx="12042475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Kafka flushes data to disk based on operating system background threads by default, or via explicit broker/topic configurations (</a:t>
            </a: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log.flush.interval.messages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log.flush.interval.ms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 By default, Kafka relies completely on the OS page cache and disables forced application-level </a:t>
            </a: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fsync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maximize speed  ( 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Same</a:t>
            </a:r>
            <a:r>
              <a:rPr kumimoji="0" lang="en-US" altLang="en-US" sz="3600" b="0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as IO buffering</a:t>
            </a:r>
            <a:r>
              <a:rPr kumimoji="0" lang="en-US" altLang="en-US" sz="3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) 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21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97072" y="0"/>
            <a:ext cx="8591612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Physical Storage</a:t>
            </a:r>
          </a:p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https://rohithsankepally.github.io/Kafka-Storage-Internals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/</a:t>
            </a:r>
            <a:r>
              <a:rPr lang="en-US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36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5391" y="1946564"/>
            <a:ext cx="1092982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43802" y="2231134"/>
            <a:ext cx="12042475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Kafka flushes data to disk based on operating system background threads by default, or via explicit broker/topic configurations (</a:t>
            </a: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log.flush.interval.messages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log.flush.interval.ms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 By default, Kafka relies completely on the OS page cache and disables forced application-level </a:t>
            </a: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fsync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maximize speed  ( 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Same</a:t>
            </a:r>
            <a:r>
              <a:rPr kumimoji="0" lang="en-US" altLang="en-US" sz="3600" b="0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as IO buffering</a:t>
            </a:r>
            <a:r>
              <a:rPr kumimoji="0" lang="en-US" altLang="en-US" sz="3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) 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25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815" y="1472532"/>
            <a:ext cx="8425597" cy="4568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88681" y="275365"/>
            <a:ext cx="823778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stackoverflow.com/questions/19394669/why-do-index-files-exist-in-the-kafka-log-directory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marL="342900" indent="-342900" algn="ctr">
              <a:buFontTx/>
              <a:buChar char="-"/>
            </a:pP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*.Log store actual message </a:t>
            </a:r>
          </a:p>
          <a:p>
            <a:pPr marL="342900" indent="-342900" algn="ctr">
              <a:buFontTx/>
              <a:buChar char="-"/>
            </a:pP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*.index store latest off to increment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596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320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anhld82</dc:creator>
  <cp:lastModifiedBy>anhld82</cp:lastModifiedBy>
  <cp:revision>34</cp:revision>
  <dcterms:created xsi:type="dcterms:W3CDTF">2026-07-23T07:07:03Z</dcterms:created>
  <dcterms:modified xsi:type="dcterms:W3CDTF">2026-07-27T05:10:45Z</dcterms:modified>
</cp:coreProperties>
</file>